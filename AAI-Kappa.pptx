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aleway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aleway-regular.fntdata"/><Relationship Id="rId9" Type="http://schemas.openxmlformats.org/officeDocument/2006/relationships/font" Target="fonts/Raleway-bold.fntdata"/><Relationship Id="rId10" Type="http://schemas.openxmlformats.org/officeDocument/2006/relationships/font" Target="fonts/Raleway-italic.fntdata"/><Relationship Id="rId11" Type="http://schemas.openxmlformats.org/officeDocument/2006/relationships/font" Target="fonts/Raleway-boldItalic.fntdata"/><Relationship Id="rId12" Type="http://schemas.openxmlformats.org/officeDocument/2006/relationships/font" Target="fonts/Lato-regular.fntdata"/><Relationship Id="rId13" Type="http://schemas.openxmlformats.org/officeDocument/2006/relationships/font" Target="fonts/Lato-bold.fntdata"/><Relationship Id="rId14" Type="http://schemas.openxmlformats.org/officeDocument/2006/relationships/font" Target="fonts/Lato-italic.fntdata"/><Relationship Id="rId15" Type="http://schemas.openxmlformats.org/officeDocument/2006/relationships/font" Target="fonts/Lato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1397d51791a304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1397d51791a304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640080" y="1115568"/>
            <a:ext cx="34290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1700" b="1">
                <a:solidFill>
                  <a:srgbClr val="058DC7"/>
                </a:solidFill>
                <a:latin typeface="Raleway"/>
              </a:rPr>
              <a:t>Selected Problem</a:t>
            </a:r>
            <a:endParaRPr/>
          </a:p>
          <a:p>
            <a:r>
              <a:rPr sz="1100" b="1">
                <a:solidFill>
                  <a:srgbClr val="0F172A"/>
                </a:solidFill>
                <a:latin typeface="Lato"/>
              </a:rPr>
              <a:t>Privacy-First, Context-Aware Fitness &amp; Wellness Assistant</a:t>
            </a: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640080" y="3730752"/>
            <a:ext cx="3429000" cy="7315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58DC7"/>
                </a:solidFill>
                <a:latin typeface="Raleway"/>
              </a:rPr>
              <a:t>Team &amp; Author</a:t>
            </a:r>
            <a:endParaRPr/>
          </a:p>
          <a:p>
            <a:r>
              <a:rPr sz="1000" b="1">
                <a:solidFill>
                  <a:srgbClr val="64748B"/>
                </a:solidFill>
                <a:latin typeface="Lato"/>
              </a:rPr>
              <a:t>Team Name: </a:t>
            </a:r>
            <a:r>
              <a:rPr sz="1000" b="1">
                <a:solidFill>
                  <a:srgbClr val="0F172A"/>
                </a:solidFill>
                <a:latin typeface="Lato"/>
              </a:rPr>
              <a:t>Team FitWell</a:t>
            </a:r>
          </a:p>
          <a:p>
            <a:r>
              <a:rPr sz="950" b="1">
                <a:solidFill>
                  <a:srgbClr val="64748B"/>
                </a:solidFill>
                <a:latin typeface="Lato"/>
              </a:rPr>
              <a:t>Developer: </a:t>
            </a:r>
            <a:r>
              <a:rPr sz="950">
                <a:solidFill>
                  <a:srgbClr val="0F172A"/>
                </a:solidFill>
                <a:latin typeface="Lato"/>
              </a:rPr>
              <a:t>Devpreyo Roy</a:t>
            </a:r>
          </a:p>
        </p:txBody>
      </p:sp>
      <p:sp>
        <p:nvSpPr>
          <p:cNvPr id="88" name="Google Shape;88;p13"/>
          <p:cNvSpPr txBox="1"/>
          <p:nvPr>
            <p:ph idx="2" type="body"/>
          </p:nvPr>
        </p:nvSpPr>
        <p:spPr>
          <a:xfrm>
            <a:off x="4663440" y="749808"/>
            <a:ext cx="3931920" cy="379476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sz="1700" b="1">
                <a:solidFill>
                  <a:srgbClr val="058DC7"/>
                </a:solidFill>
                <a:latin typeface="Raleway"/>
              </a:rPr>
              <a:t>Your Learnings</a:t>
            </a:r>
            <a:endParaRPr/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F172A"/>
                </a:solidFill>
                <a:latin typeface="Lato"/>
              </a:rPr>
              <a:t>• Stateful Cyclic Graphs (LangGraph): </a:t>
            </a:r>
            <a:r>
              <a:rPr sz="900">
                <a:solidFill>
                  <a:srgbClr val="334155"/>
                </a:solidFill>
                <a:latin typeface="Lato"/>
              </a:rPr>
              <a:t>Cyclic ReAct execution (reason ↔ tool_node) is vastly superior to linear chains for multi-turn conversational agents that must inspect state, call tools, and verify outcomes before responding.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F172A"/>
                </a:solidFill>
                <a:latin typeface="Lato"/>
              </a:rPr>
              <a:t>• Deterministic Tool Typing: </a:t>
            </a:r>
            <a:r>
              <a:rPr sz="900">
                <a:solidFill>
                  <a:srgbClr val="334155"/>
                </a:solidFill>
                <a:latin typeface="Lato"/>
              </a:rPr>
              <a:t>Strict schema definitions using LangChain @tool and Pydantic validation prevented argument hallucinations when logging sensitive workout reps, weights, and macronutrient targets.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F172A"/>
                </a:solidFill>
                <a:latin typeface="Lato"/>
              </a:rPr>
              <a:t>• Privacy-First Architectural Decoupling: </a:t>
            </a:r>
            <a:r>
              <a:rPr sz="900">
                <a:solidFill>
                  <a:srgbClr val="334155"/>
                </a:solidFill>
                <a:latin typeface="Lato"/>
              </a:rPr>
              <a:t>Demonstrated that cutting-edge LLM reasoning can be completely decoupled from data storage; zero personal metrics leave the user's local memory.json.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F172A"/>
                </a:solidFill>
                <a:latin typeface="Lato"/>
              </a:rPr>
              <a:t>• Dual-Provider Model Portability: </a:t>
            </a:r>
            <a:r>
              <a:rPr sz="900">
                <a:solidFill>
                  <a:srgbClr val="334155"/>
                </a:solidFill>
                <a:latin typeface="Lato"/>
              </a:rPr>
              <a:t>Abstracting the LLM runtime enabled seamless switching between cloud Google Gemini API (gemini-2.5-flash) and offline local Ollama (gemma4:e4b) for private, zero-cost execution.</a:t>
            </a:r>
          </a:p>
          <a:p>
            <a:pPr>
              <a:spcAft>
                <a:spcPts val="500"/>
              </a:spcAft>
            </a:pPr>
            <a:r>
              <a:rPr sz="900" b="1">
                <a:solidFill>
                  <a:srgbClr val="0F172A"/>
                </a:solidFill>
                <a:latin typeface="Lato"/>
              </a:rPr>
              <a:t>• End-to-End State Synchronization: </a:t>
            </a:r>
            <a:r>
              <a:rPr sz="900">
                <a:solidFill>
                  <a:srgbClr val="334155"/>
                </a:solidFill>
                <a:latin typeface="Lato"/>
              </a:rPr>
              <a:t>Coupling atomic backend JSON updates with real-time Flask REST routes enables instant live feedback across dashboard charts, logs, and conversational history.</a:t>
            </a:r>
          </a:p>
        </p:txBody>
      </p:sp>
      <p:sp>
        <p:nvSpPr>
          <p:cNvPr id="89" name="Google Shape;89;p13"/>
          <p:cNvSpPr txBox="1"/>
          <p:nvPr>
            <p:ph idx="2" type="body"/>
          </p:nvPr>
        </p:nvSpPr>
        <p:spPr>
          <a:xfrm>
            <a:off x="640080" y="1874519"/>
            <a:ext cx="3429000" cy="169164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sz="1300" b="1">
                <a:solidFill>
                  <a:srgbClr val="058DC7"/>
                </a:solidFill>
                <a:latin typeface="Raleway"/>
              </a:rPr>
              <a:t>Overview</a:t>
            </a:r>
            <a:endParaRPr/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F172A"/>
                </a:solidFill>
                <a:latin typeface="Lato"/>
              </a:rPr>
              <a:t>• The Problem: </a:t>
            </a:r>
            <a:r>
              <a:rPr sz="900">
                <a:solidFill>
                  <a:srgbClr val="334155"/>
                </a:solidFill>
                <a:latin typeface="Lato"/>
              </a:rPr>
              <a:t>Generic fitness apps provide static, one-size-fits-all advice while exposing sensitive health and biometric metrics to third-party cloud servers.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F172A"/>
                </a:solidFill>
                <a:latin typeface="Lato"/>
              </a:rPr>
              <a:t>• FitWell Solution: </a:t>
            </a:r>
            <a:r>
              <a:rPr sz="900">
                <a:solidFill>
                  <a:srgbClr val="334155"/>
                </a:solidFill>
                <a:latin typeface="Lato"/>
              </a:rPr>
              <a:t>An autonomous, privacy-conscious wellness agent utilizing LangGraph ReAct orchestration and Gemini/Ollama with 100% local memory.json persistence.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0F172A"/>
                </a:solidFill>
                <a:latin typeface="Lato"/>
              </a:rPr>
              <a:t>• Core Intelligence: </a:t>
            </a:r>
            <a:r>
              <a:rPr sz="900">
                <a:solidFill>
                  <a:srgbClr val="334155"/>
                </a:solidFill>
                <a:latin typeface="Lato"/>
              </a:rPr>
              <a:t>Generates progressive overload routines, macro-calculated nutrition, and localized facility recommendations via 11 specialized domain tools.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685800" y="1188720"/>
            <a:ext cx="7680960" cy="5029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rgbClr val="058DC7"/>
                </a:solidFill>
                <a:latin typeface="Raleway"/>
              </a:rPr>
              <a:t>Your Approach: Agentic Architecture &amp; Execution Flow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685800" y="1783080"/>
            <a:ext cx="7680960" cy="23317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0F172A"/>
                </a:solidFill>
                <a:latin typeface="Lato"/>
              </a:rPr>
              <a:t>1. Private Storage Layer: </a:t>
            </a:r>
            <a:r>
              <a:rPr sz="950">
                <a:solidFill>
                  <a:srgbClr val="334155"/>
                </a:solidFill>
                <a:latin typeface="Lato"/>
              </a:rPr>
              <a:t>Local data/memory.json maintains User Profile, Conversation History, Workouts, Meals, and Strength PRs with atomic file writes—guaranteeing complete data privacy.</a:t>
            </a:r>
            <a:endParaRPr/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F172A"/>
                </a:solidFill>
                <a:latin typeface="Lato"/>
              </a:rPr>
              <a:t>2. LangGraph ReAct Cognitive Engine: </a:t>
            </a:r>
            <a:r>
              <a:rPr sz="950">
                <a:solidFill>
                  <a:srgbClr val="334155"/>
                </a:solidFill>
                <a:latin typeface="Lato"/>
              </a:rPr>
              <a:t>Stateful graph topology (START ➔ reason ⮂ tool_node ➔ END) manages AgentState TypedDict and dynamically routes tool execution via tools_condition.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F172A"/>
                </a:solidFill>
                <a:latin typeface="Lato"/>
              </a:rPr>
              <a:t>3. 11 Domain Tools Suite: </a:t>
            </a:r>
            <a:r>
              <a:rPr sz="950">
                <a:solidFill>
                  <a:srgbClr val="334155"/>
                </a:solidFill>
                <a:latin typeface="Lato"/>
              </a:rPr>
              <a:t>Deterministic functions for atomic profile updates, progressive overload logging, macro calculations, and radius-filtered facility searches with offline mock data.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F172A"/>
                </a:solidFill>
                <a:latin typeface="Lato"/>
              </a:rPr>
              <a:t>4. Dual-Provider LLM Gateway: </a:t>
            </a:r>
            <a:r>
              <a:rPr sz="950">
                <a:solidFill>
                  <a:srgbClr val="334155"/>
                </a:solidFill>
                <a:latin typeface="Lato"/>
              </a:rPr>
              <a:t>Configurable runtime dynamically switches between Google Gemini API and local Ollama; exposes clean Flask REST endpoints (/api/chat, /api/workouts, /api/meals).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0F172A"/>
                </a:solidFill>
                <a:latin typeface="Lato"/>
              </a:rPr>
              <a:t>5. Real-Time UI Sync: </a:t>
            </a:r>
            <a:r>
              <a:rPr sz="950">
                <a:solidFill>
                  <a:srgbClr val="334155"/>
                </a:solidFill>
                <a:latin typeface="Lato"/>
              </a:rPr>
              <a:t>Interactive web dashboard binds live analytics, progress charts, and chat streaming to backend memory state changes.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000" b="1">
                <a:solidFill>
                  <a:srgbClr val="058DC7"/>
                </a:solidFill>
                <a:latin typeface="Raleway"/>
              </a:rPr>
              <a:t>System Execution Workflow:</a:t>
            </a:r>
          </a:p>
          <a:p>
            <a:pPr>
              <a:spcAft>
                <a:spcPts val="0"/>
              </a:spcAft>
            </a:pPr>
            <a:r>
              <a:rPr sz="850" b="1">
                <a:solidFill>
                  <a:srgbClr val="0369A1"/>
                </a:solidFill>
                <a:latin typeface="Courier New"/>
              </a:rPr>
              <a:t>[ User UI / Chat Dashboard ] ➔ [ Flask REST API ] ➔ [ LangGraph Agent (Reason ⮂ ToolNode [11 Tools]) ] ➔ [ Local memory.json ] ➔ [ Real-Time Dashboard Sync ]</a:t>
            </a: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3931920" y="4279392"/>
            <a:ext cx="3931920" cy="5029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>
                <a:solidFill>
                  <a:srgbClr val="64748B"/>
                </a:solidFill>
                <a:latin typeface="Lato"/>
              </a:rPr>
              <a:t>Project Repository: </a:t>
            </a:r>
            <a:r>
              <a:rPr sz="950" b="1">
                <a:solidFill>
                  <a:srgbClr val="058DC7"/>
                </a:solidFill>
                <a:latin typeface="Lato"/>
              </a:rPr>
              <a:t>github.com/devedroy/fit-well-agent</a:t>
            </a:r>
            <a:endParaRPr/>
          </a:p>
          <a:p>
            <a:pPr algn="r"/>
            <a:r>
              <a:rPr sz="850">
                <a:solidFill>
                  <a:srgbClr val="64748B"/>
                </a:solidFill>
                <a:latin typeface="Lato"/>
              </a:rPr>
              <a:t>Scan QR code or click link to view code &amp; demo</a:t>
            </a:r>
          </a:p>
        </p:txBody>
      </p:sp>
      <p:pic>
        <p:nvPicPr>
          <p:cNvPr id="97" name="Picture 96" descr="github_rep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114800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